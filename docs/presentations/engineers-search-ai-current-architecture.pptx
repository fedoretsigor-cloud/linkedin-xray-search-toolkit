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6a9d42341d4282" /><Relationship Type="http://schemas.openxmlformats.org/officeDocument/2006/relationships/extended-properties" Target="/docProps/app.xml" Id="Rf7bb22db31ec42d7" /><Relationship Type="http://schemas.openxmlformats.org/officeDocument/2006/relationships/officeDocument" Target="/ppt/presentation.xml" Id="Rbde20ec8428e41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e35438cd884c67"/>
  </p:sldMasterIdLst>
  <p:notesMasterIdLst>
    <p:notesMasterId xmlns:r="http://schemas.openxmlformats.org/officeDocument/2006/relationships" r:id="R84622a2991c34cb8"/>
  </p:notesMasterIdLst>
  <p:sldIdLst>
    <p:sldId xmlns:r="http://schemas.openxmlformats.org/officeDocument/2006/relationships" id="256" r:id="R0f3ea3b096124e61"/>
    <p:sldId xmlns:r="http://schemas.openxmlformats.org/officeDocument/2006/relationships" id="257" r:id="Re604b10beffb434f"/>
    <p:sldId xmlns:r="http://schemas.openxmlformats.org/officeDocument/2006/relationships" id="258" r:id="R1f7434d4394a4983"/>
    <p:sldId xmlns:r="http://schemas.openxmlformats.org/officeDocument/2006/relationships" id="259" r:id="R6e935ba1b1ac422e"/>
    <p:sldId xmlns:r="http://schemas.openxmlformats.org/officeDocument/2006/relationships" id="260" r:id="Rffc1d37b700e49f4"/>
    <p:sldId xmlns:r="http://schemas.openxmlformats.org/officeDocument/2006/relationships" id="261" r:id="Rbd6629a768d54844"/>
    <p:sldId xmlns:r="http://schemas.openxmlformats.org/officeDocument/2006/relationships" id="262" r:id="Rdedcf9a1de3943a3"/>
    <p:sldId xmlns:r="http://schemas.openxmlformats.org/officeDocument/2006/relationships" id="263" r:id="R5a8044c534ee4f83"/>
    <p:sldId xmlns:r="http://schemas.openxmlformats.org/officeDocument/2006/relationships" id="264" r:id="Rdc832f05540f4558"/>
    <p:sldId xmlns:r="http://schemas.openxmlformats.org/officeDocument/2006/relationships" id="265" r:id="R87c392bd093f448f"/>
    <p:sldId xmlns:r="http://schemas.openxmlformats.org/officeDocument/2006/relationships" id="266" r:id="R337d5eb7a4fb4635"/>
    <p:sldId xmlns:r="http://schemas.openxmlformats.org/officeDocument/2006/relationships" id="267" r:id="R9f5cc4ffdc284ef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e35438cd884c67" /><Relationship Type="http://schemas.openxmlformats.org/officeDocument/2006/relationships/theme" Target="/ppt/theme/theme1.xml" Id="R1b83776fc70345e3" /><Relationship Type="http://schemas.openxmlformats.org/officeDocument/2006/relationships/notesMaster" Target="/ppt/notesMasters/notesMaster1.xml" Id="R84622a2991c34cb8" /><Relationship Type="http://schemas.openxmlformats.org/officeDocument/2006/relationships/presProps" Target="/ppt/presProps.xml" Id="Rc17f1236d1254445" /><Relationship Type="http://schemas.openxmlformats.org/officeDocument/2006/relationships/viewProps" Target="/ppt/viewProps.xml" Id="R9e41989dee6c418c" /><Relationship Type="http://schemas.openxmlformats.org/officeDocument/2006/relationships/tableStyles" Target="/ppt/tableStyles.xml" Id="Rb96f50ad8fe145e8" /><Relationship Type="http://schemas.openxmlformats.org/officeDocument/2006/relationships/slide" Target="/ppt/slides/slide1.xml" Id="R0f3ea3b096124e61" /><Relationship Type="http://schemas.openxmlformats.org/officeDocument/2006/relationships/slide" Target="/ppt/slides/slide2.xml" Id="Re604b10beffb434f" /><Relationship Type="http://schemas.openxmlformats.org/officeDocument/2006/relationships/slide" Target="/ppt/slides/slide3.xml" Id="R1f7434d4394a4983" /><Relationship Type="http://schemas.openxmlformats.org/officeDocument/2006/relationships/slide" Target="/ppt/slides/slide4.xml" Id="R6e935ba1b1ac422e" /><Relationship Type="http://schemas.openxmlformats.org/officeDocument/2006/relationships/slide" Target="/ppt/slides/slide5.xml" Id="Rffc1d37b700e49f4" /><Relationship Type="http://schemas.openxmlformats.org/officeDocument/2006/relationships/slide" Target="/ppt/slides/slide6.xml" Id="Rbd6629a768d54844" /><Relationship Type="http://schemas.openxmlformats.org/officeDocument/2006/relationships/slide" Target="/ppt/slides/slide7.xml" Id="Rdedcf9a1de3943a3" /><Relationship Type="http://schemas.openxmlformats.org/officeDocument/2006/relationships/slide" Target="/ppt/slides/slide8.xml" Id="R5a8044c534ee4f83" /><Relationship Type="http://schemas.openxmlformats.org/officeDocument/2006/relationships/slide" Target="/ppt/slides/slide9.xml" Id="Rdc832f05540f4558" /><Relationship Type="http://schemas.openxmlformats.org/officeDocument/2006/relationships/slide" Target="/ppt/slides/slide10.xml" Id="R87c392bd093f448f" /><Relationship Type="http://schemas.openxmlformats.org/officeDocument/2006/relationships/slide" Target="/ppt/slides/slide11.xml" Id="R337d5eb7a4fb4635" /><Relationship Type="http://schemas.openxmlformats.org/officeDocument/2006/relationships/slide" Target="/ppt/slides/slide12.xml" Id="R9f5cc4ffdc284e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eaf4e4a19384f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6ad914d0dc4484" /><Relationship Type="http://schemas.openxmlformats.org/officeDocument/2006/relationships/notesMaster" Target="/ppt/notesMasters/notesMaster1.xml" Id="R6b871465c3ba4a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0cb991946541da" /><Relationship Type="http://schemas.openxmlformats.org/officeDocument/2006/relationships/notesMaster" Target="/ppt/notesMasters/notesMaster1.xml" Id="R024bb99a61a44f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2b60e93638471f" /><Relationship Type="http://schemas.openxmlformats.org/officeDocument/2006/relationships/notesMaster" Target="/ppt/notesMasters/notesMaster1.xml" Id="R2df87937155b4e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576b7708df448f" /><Relationship Type="http://schemas.openxmlformats.org/officeDocument/2006/relationships/notesMaster" Target="/ppt/notesMasters/notesMaster1.xml" Id="R3dc11c55facb43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c33957f2194b1a" /><Relationship Type="http://schemas.openxmlformats.org/officeDocument/2006/relationships/notesMaster" Target="/ppt/notesMasters/notesMaster1.xml" Id="R477b995373bb4d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8e526ab9284010" /><Relationship Type="http://schemas.openxmlformats.org/officeDocument/2006/relationships/notesMaster" Target="/ppt/notesMasters/notesMaster1.xml" Id="Rde561804316140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b8c683c98f4b29" /><Relationship Type="http://schemas.openxmlformats.org/officeDocument/2006/relationships/notesMaster" Target="/ppt/notesMasters/notesMaster1.xml" Id="R7ae81cdf81f34b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c01e96651346c5" /><Relationship Type="http://schemas.openxmlformats.org/officeDocument/2006/relationships/notesMaster" Target="/ppt/notesMasters/notesMaster1.xml" Id="R3b2baa6125584e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d1cc0a30384231" /><Relationship Type="http://schemas.openxmlformats.org/officeDocument/2006/relationships/notesMaster" Target="/ppt/notesMasters/notesMaster1.xml" Id="Rc95caa3d18484d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02618cfe52c4115" /><Relationship Type="http://schemas.openxmlformats.org/officeDocument/2006/relationships/notesMaster" Target="/ppt/notesMasters/notesMaster1.xml" Id="R1d9575e4e3c54fd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2777ad30e2144b8" /><Relationship Type="http://schemas.openxmlformats.org/officeDocument/2006/relationships/notesMaster" Target="/ppt/notesMasters/notesMaster1.xml" Id="R760336b481e144b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f7460463f704fd9" /><Relationship Type="http://schemas.openxmlformats.org/officeDocument/2006/relationships/notesMaster" Target="/ppt/notesMasters/notesMaster1.xml" Id="R8409afc3fb8a45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ddae1084194b4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5ddf8c3e6f54206" /><Relationship Type="http://schemas.openxmlformats.org/officeDocument/2006/relationships/slideLayout" Target="/ppt/slideLayouts/slideLayout2.xml" Id="R0ca4dd5fdde747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a4dd5fdde747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b28a8924854fd3" /><Relationship Type="http://schemas.openxmlformats.org/officeDocument/2006/relationships/notesSlide" Target="/ppt/notesSlides/notesSlide1.xml" Id="R7fafdf20eb414a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219954a3f9435b" /><Relationship Type="http://schemas.openxmlformats.org/officeDocument/2006/relationships/notesSlide" Target="/ppt/notesSlides/notesSlide2.xml" Id="R0b9d2f0102474a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56dd791cee4a59" /><Relationship Type="http://schemas.openxmlformats.org/officeDocument/2006/relationships/notesSlide" Target="/ppt/notesSlides/notesSlide3.xml" Id="R23b2a4fe5c7e4d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81a4fa69d04e77" /><Relationship Type="http://schemas.openxmlformats.org/officeDocument/2006/relationships/notesSlide" Target="/ppt/notesSlides/notesSlide4.xml" Id="R60bd755ca09e45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6a772b85be4e9b" /><Relationship Type="http://schemas.openxmlformats.org/officeDocument/2006/relationships/notesSlide" Target="/ppt/notesSlides/notesSlide5.xml" Id="R06a1eb69733d4a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8fbe39c4ef4aa7" /><Relationship Type="http://schemas.openxmlformats.org/officeDocument/2006/relationships/notesSlide" Target="/ppt/notesSlides/notesSlide6.xml" Id="R44df500d034d4f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4d9be3e88c403c" /><Relationship Type="http://schemas.openxmlformats.org/officeDocument/2006/relationships/notesSlide" Target="/ppt/notesSlides/notesSlide7.xml" Id="Rd1d02285cae24a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c4c32b99e84126" /><Relationship Type="http://schemas.openxmlformats.org/officeDocument/2006/relationships/notesSlide" Target="/ppt/notesSlides/notesSlide8.xml" Id="Re9979b9bbb2e4f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ef891b480048dd" /><Relationship Type="http://schemas.openxmlformats.org/officeDocument/2006/relationships/notesSlide" Target="/ppt/notesSlides/notesSlide9.xml" Id="Rc0611bdb90744f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e7743ac04445dc" /><Relationship Type="http://schemas.openxmlformats.org/officeDocument/2006/relationships/notesSlide" Target="/ppt/notesSlides/notesSlide10.xml" Id="R17ad7cdc8f0f4a5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b49b61b07142c5" /><Relationship Type="http://schemas.openxmlformats.org/officeDocument/2006/relationships/notesSlide" Target="/ppt/notesSlides/notesSlide11.xml" Id="R38647e19363b4c6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2f2d44428e442f" /><Relationship Type="http://schemas.openxmlformats.org/officeDocument/2006/relationships/notesSlide" Target="/ppt/notesSlides/notesSlide12.xml" Id="R94d1d46fe3a947c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999251-72AD-487F-B559-3738825D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247F9C-3085-42C8-9EE7-A34DDD17B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9DF85B-E281-46FE-8F86-C23C7256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FB6BDD-4A48-4D20-9F80-9F680701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04950"/>
            <a:ext cx="12192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9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508422-826D-4848-9CA8-B01DAE53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E0D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6E0D0"/>
                </a:solidFill>
                <a:latin typeface="Aptos Mono"/>
                <a:ea typeface="Aptos Mono"/>
                <a:cs typeface="Aptos Mono"/>
              </a:rPr>
              <a:t>PRODUCT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628931-F6ED-4DD9-8018-23DEA7B8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647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Engineers Search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E71095-D778-4851-B769-EB1A7846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647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Human-in-the-loop sourcing workflow for turning public hiring requirements into verified candidate decisions.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597FF5-8841-4D02-9F06-911EAA8B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1"/>
          </a:solidFill>
          <a:ln xmlns:a="http://schemas.openxmlformats.org/drawingml/2006/main" w="9525">
            <a:solidFill>
              <a:srgbClr val="36E0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EE7449-D305-416A-B603-BBC2F367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76625"/>
            <a:ext cx="13144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6E0D0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36E0D0"/>
                </a:solidFill>
                <a:latin typeface="Aptos Mono"/>
                <a:ea typeface="Aptos Mono"/>
                <a:cs typeface="Aptos Mono"/>
              </a:rPr>
              <a:t>Current state MVP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240478-97EB-4448-980B-64AACEDE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42900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1"/>
          </a:solidFill>
          <a:ln xmlns:a="http://schemas.openxmlformats.org/drawingml/2006/main" w="9525">
            <a:solidFill>
              <a:srgbClr val="4B9B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D38F57-0593-4E0D-9865-1F3F4C1A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476625"/>
            <a:ext cx="13144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4B9BFF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4B9BFF"/>
                </a:solidFill>
                <a:latin typeface="Aptos Mono"/>
                <a:ea typeface="Aptos Mono"/>
                <a:cs typeface="Aptos Mono"/>
              </a:rPr>
              <a:t>Search engine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8E2B99-2231-4967-B608-A452B257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42900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1"/>
          </a:solidFill>
          <a:ln xmlns:a="http://schemas.openxmlformats.org/drawingml/2006/main" w="9525">
            <a:solidFill>
              <a:srgbClr val="49E5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9F98D6-FF6D-46F2-A110-078C04A3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76625"/>
            <a:ext cx="13144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49E5A8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49E5A8"/>
                </a:solidFill>
                <a:latin typeface="Aptos Mono"/>
                <a:ea typeface="Aptos Mono"/>
                <a:cs typeface="Aptos Mono"/>
              </a:rPr>
              <a:t>Safe LinkedIn 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A0890B-6913-4AE5-96F8-0125927C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43400"/>
            <a:ext cx="653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9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4B6234-792F-4F01-BEE4-F0F11A18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86300"/>
            <a:ext cx="6572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3F7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3F7FF"/>
                </a:solidFill>
                <a:latin typeface="Aptos"/>
                <a:ea typeface="Aptos"/>
                <a:cs typeface="Aptos"/>
              </a:rPr>
              <a:t>The product is not a LinkedIn scraping bot. It is a structured assistant that searches public indexes, keeps the human in control, and records evidence before decisions.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CC08AA-0471-4482-92AF-DE5797D5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00200"/>
            <a:ext cx="23812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11430">
            <a:solidFill>
              <a:srgbClr val="2B496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7233D3-33BE-447D-8B2C-BE4B2F82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142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6E0D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36E0D0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7E1F8A-1598-4A27-A717-7272496E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52675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search depths: Standard, Medium, Extended, Max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6881F1-7FCB-4838-AFFA-2631F70F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52750"/>
            <a:ext cx="142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B9B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4B9B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7B25A0-7AF9-4934-B115-563B8E3A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5280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active providers in current focused 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6DA1A6-CBB2-4055-BF8E-1EF13435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52875"/>
            <a:ext cx="142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9E5A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49E5A8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B293A1-1FDF-4C8C-A082-D36CBFB0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52925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AI review moments: requirement, profile, resume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F07802-33AF-4B45-A693-33A83E26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4A4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F84A4"/>
                </a:solidFill>
                <a:latin typeface="Aptos Mono"/>
                <a:ea typeface="Aptos Mono"/>
                <a:cs typeface="Aptos Mono"/>
              </a:rPr>
              <a:t>Engineers Search AI | current architecture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836773-D907-44DA-81ED-1393D84A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6E0D0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6E0D0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4153828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AAECB9-E25C-423B-B20E-33D5A12F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E8A6A4-4B1B-4050-8158-5656F183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539221-E82E-41AE-B0F2-03D933A6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ACF1DB-A47C-4BB7-8812-5149B7BF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04950"/>
            <a:ext cx="12192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9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5A2B2A-A160-48FC-8DD3-2A0813D4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E0D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6E0D0"/>
                </a:solidFill>
                <a:latin typeface="Aptos Mono"/>
                <a:ea typeface="Aptos Mono"/>
                <a:cs typeface="Aptos Mono"/>
              </a:rPr>
              <a:t>POSITIONING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92EFCC-2329-4AB2-908A-4AC8AB23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766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The system optimizes the sourcing workflow, not private profile scraping.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D58051-CE37-44B1-A303-2E0E3437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790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It uses public pages and indexed search results, then asks the human to verify private/contextual evidence manually.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52BEA7-5955-4993-A0FE-C42F47F3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8575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11430">
            <a:solidFill>
              <a:srgbClr val="2B496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AF11FD-B37C-4F90-B62B-941408B8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762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E5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E68BAF-93C5-4260-B47C-53DEE9B5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What it does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A2E54F-53AE-4AFB-A490-13B6EA64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2514600" cy="1800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Reads public vacancy pages</a:t>
            </a:r>
          </a:p>
          <a:p xmlns:a="http://schemas.openxmlformats.org/drawingml/2006/main">
            <a:pPr algn="l">
              <a:defRPr sz="975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Builds structured search briefs</a:t>
            </a:r>
          </a:p>
          <a:p xmlns:a="http://schemas.openxmlformats.org/drawingml/2006/main">
            <a:pPr algn="l">
              <a:defRPr sz="975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Runs public X-Ray style search</a:t>
            </a:r>
          </a:p>
          <a:p xmlns:a="http://schemas.openxmlformats.org/drawingml/2006/main">
            <a:pPr algn="l">
              <a:defRPr sz="975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Ranks and stores candidates</a:t>
            </a:r>
          </a:p>
          <a:p xmlns:a="http://schemas.openxmlformats.org/drawingml/2006/main">
            <a:pPr algn="l">
              <a:defRPr sz="975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Analyzes pasted profile/resume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E2F1DD-B78E-421B-B2D0-886EBFA3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09750"/>
            <a:ext cx="28575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11430">
            <a:solidFill>
              <a:srgbClr val="2B496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1C8F2C-04AE-44E8-A182-F0F13780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09750"/>
            <a:ext cx="4762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E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C08B04-CB9B-4098-A0C4-80CF8C3D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812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What stays human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AF5A89-27EF-49CD-93EE-F24DC326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05050"/>
            <a:ext cx="2514600" cy="1800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Opening LinkedIn profiles</a:t>
            </a:r>
          </a:p>
          <a:p xmlns:a="http://schemas.openxmlformats.org/drawingml/2006/main">
            <a:pPr algn="l">
              <a:defRPr sz="975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Choosing which profiles matter</a:t>
            </a:r>
          </a:p>
          <a:p xmlns:a="http://schemas.openxmlformats.org/drawingml/2006/main">
            <a:pPr algn="l">
              <a:defRPr sz="975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Pasting relevant profile text</a:t>
            </a:r>
          </a:p>
          <a:p xmlns:a="http://schemas.openxmlformats.org/drawingml/2006/main">
            <a:pPr algn="l">
              <a:defRPr sz="975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Approving candidate outreach</a:t>
            </a:r>
          </a:p>
          <a:p xmlns:a="http://schemas.openxmlformats.org/drawingml/2006/main">
            <a:pPr algn="l">
              <a:defRPr sz="975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Handling communication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7D4304-E0F9-4E16-8F98-A128BC8D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809750"/>
            <a:ext cx="28575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11430">
            <a:solidFill>
              <a:srgbClr val="2B496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695634-8B36-4EB9-926F-B945D16A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809750"/>
            <a:ext cx="4762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C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E6B233-3DC2-4116-B90D-324D441E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98120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What it avoids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0742FE-E531-4151-A630-7FBF3813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05050"/>
            <a:ext cx="2514600" cy="1800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Logged-in LinkedIn automation</a:t>
            </a:r>
          </a:p>
          <a:p xmlns:a="http://schemas.openxmlformats.org/drawingml/2006/main">
            <a:pPr algn="l">
              <a:defRPr sz="975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Cookie/session scraping</a:t>
            </a:r>
          </a:p>
          <a:p xmlns:a="http://schemas.openxmlformats.org/drawingml/2006/main">
            <a:pPr algn="l">
              <a:defRPr sz="975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Mass profile opening</a:t>
            </a:r>
          </a:p>
          <a:p xmlns:a="http://schemas.openxmlformats.org/drawingml/2006/main">
            <a:pPr algn="l">
              <a:defRPr sz="975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Automated messaging</a:t>
            </a:r>
          </a:p>
          <a:p xmlns:a="http://schemas.openxmlformats.org/drawingml/2006/main">
            <a:pPr algn="l">
              <a:defRPr sz="975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Hidden state changes inside chat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CA9489-1D80-47A9-8CE7-C5641B8C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C0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5C04D"/>
                </a:solidFill>
                <a:latin typeface="Aptos Mono"/>
                <a:ea typeface="Aptos Mono"/>
                <a:cs typeface="Aptos Mono"/>
              </a:rPr>
              <a:t>SAFE OPERATING MODEL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E3B081-1099-4B2C-845E-1563458E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C31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C96A25-341C-4825-917C-004C110A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91125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Public input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70F048-85EA-4D42-947C-07C53937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4830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Vacancy URL or manual brief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0E124D-4F72-4090-A3C4-C99E750C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4292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E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90D7D5-F926-4879-8ABA-3B1C3C34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5381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E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56F59B-68AA-484F-9976-47094962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6730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C31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5411EF-11D2-4AFA-A324-50CEF20B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191125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Public search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D7DEF9-8166-40CA-ABE6-CCFC24CA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44830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Search providers return indexed metadata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FE99D8-2FC1-486A-ACE2-5A44D0C2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4292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E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B3BC9A-EBE4-4B41-AECE-0EEF7471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5381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E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51D453-0685-40EB-9CEF-E140BDA2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6730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C31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B8EC81-B48C-4841-B4A0-D18AE2D3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191125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Human proof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405F6F-910A-40BF-B42B-B579EFDB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44830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User pastes profile / resume evidence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A3A29C-068F-49B6-92E5-4E8FFF2D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4292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E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A0A9A3-D5E8-4A98-8F75-0AA4E7A3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381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E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2BCBAB-CFA2-4BA5-B7D5-AB8A6096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6730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C31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C863FB1-B3AF-471C-8D18-9F559F6F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191125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AI decision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6D9AE0-913A-4170-9794-6F4655E2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448300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Fit, risks, questions, outreach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17A9C97-FC3C-40F3-AB2A-AD599139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4A4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F84A4"/>
                </a:solidFill>
                <a:latin typeface="Aptos Mono"/>
                <a:ea typeface="Aptos Mono"/>
                <a:cs typeface="Aptos Mono"/>
              </a:rPr>
              <a:t>Engineers Search AI | current architecture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394AEC-AEB4-4EFF-989C-9FE3FAC6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6E0D0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6E0D0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797307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B4F7AB-F0DD-451B-A75A-1D992932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2ACD49-4B3A-4564-85CE-2D6470E8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CDBC26-5700-440A-98A2-F66A5F5C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552C49-94D0-40C1-85B3-6993BE1E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04950"/>
            <a:ext cx="12192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9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F0A52A-CA68-4E42-BC38-885D2CFC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E0D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6E0D0"/>
                </a:solidFill>
                <a:latin typeface="Aptos Mono"/>
                <a:ea typeface="Aptos Mono"/>
                <a:cs typeface="Aptos Mono"/>
              </a:rPr>
              <a:t>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D9E5D1-1CB8-46C5-8D06-BB319E05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766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The core workflow moves from requirement to evidence-backed decision.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51405E-96CF-4589-8785-41626493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790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Each step creates structured state that can later be controlled by a conversational copilot.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174AED-614D-413F-993C-1D545FBB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990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7CCC4D-5985-48EE-9DA5-E5E5CE08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76425"/>
            <a:ext cx="28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6E0D0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36E0D0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9E35DA-5CDE-4018-8017-4CF3C79E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71700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Requirement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095B35-D339-4CD0-BE01-23652C37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81250"/>
            <a:ext cx="78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URL or manual search brief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78BACC-DFCE-48CC-9E73-0C44C999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257425"/>
            <a:ext cx="142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644B1D-3245-4133-87A5-B5B1F65A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209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598D11-078B-4430-809B-4F842775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1762125"/>
            <a:ext cx="990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008A30-B1BC-4F4F-8853-FA571E4F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876425"/>
            <a:ext cx="28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6E0D0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36E0D0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284487-D2F1-44E2-B4A7-0280CA78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171700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Brief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B08E66-CEDD-439C-A45B-0AED8151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381250"/>
            <a:ext cx="78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AI extracts role, location, skills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9663DA-E8FB-4F4D-8AA4-595E0A0D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257425"/>
            <a:ext cx="142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43C54C-F476-46CC-909C-B7598FCB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209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D9BB3A-3B9E-4404-B5CF-25E56255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1762125"/>
            <a:ext cx="990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C39817-07E8-4929-B919-208B0136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876425"/>
            <a:ext cx="28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6E0D0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36E0D0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DC5C34-31D0-4BBA-9377-30185BBE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171700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Confirm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7C46F4-77CF-4231-BF4F-8D1085FD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381250"/>
            <a:ext cx="78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Human edits current fields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379E5A-814A-404A-9F35-D3936CE9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257425"/>
            <a:ext cx="142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71D330-9F26-4C00-B04A-07DC1237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209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01DFC6-C4C9-472A-8A69-4E66A67C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762125"/>
            <a:ext cx="990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19050">
            <a:solidFill>
              <a:srgbClr val="36E0D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B862E8-DF04-4C0A-9DDC-111312D1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876425"/>
            <a:ext cx="28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6E0D0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36E0D0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9BA95F-304C-4229-B3D9-718C5012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171700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Search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D9B5B4-9EF4-476B-B8FF-C4CD1590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381250"/>
            <a:ext cx="78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Hybrid providers + strict filters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B5299B-0F4B-4972-9386-505AC051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257425"/>
            <a:ext cx="142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455083-DF02-46D4-9DA4-A3A359D4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209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717884-9CDB-45AE-94C2-AC92E33C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762125"/>
            <a:ext cx="990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D33A24-5B07-43BE-AAFC-8A2EE836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76425"/>
            <a:ext cx="28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6E0D0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36E0D0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DD3E53-08FB-423C-ACE4-3CE0DE25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71700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Review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0294A2-794E-4902-96DD-49185E8B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81250"/>
            <a:ext cx="78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Human selects promising profiles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8320E7-36EA-43BF-AA38-8727F8CC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257425"/>
            <a:ext cx="142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85BB64-07E0-46AC-B149-5184CAF1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209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604DE2-A6AC-46BF-8C2F-6E74DDE0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762125"/>
            <a:ext cx="990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7E7CD0D-2CE3-47CB-921E-D6C4CB75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1876425"/>
            <a:ext cx="28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6E0D0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36E0D0"/>
                </a:solidFill>
                <a:latin typeface="Aptos Mono"/>
                <a:ea typeface="Aptos Mono"/>
                <a:cs typeface="Aptos Mono"/>
              </a:rPr>
              <a:t>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08266D-D425-460A-9E3C-144692C3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171700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Profile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BCA5F8-4B6D-4F85-B595-8FD3A805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381250"/>
            <a:ext cx="78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Paste profile text for AI review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74B3E9-3C16-476B-A44C-FA6D1F0E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57425"/>
            <a:ext cx="142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4D1F7D3-5A9B-4973-A0DB-2AB79DDA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209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7A4F7E4-EA8D-4D8E-8316-B3E04F4C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762125"/>
            <a:ext cx="990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2D74913-C9CE-40B0-AA91-1BDF1368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876425"/>
            <a:ext cx="28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6E0D0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36E0D0"/>
                </a:solidFill>
                <a:latin typeface="Aptos Mono"/>
                <a:ea typeface="Aptos Mono"/>
                <a:cs typeface="Aptos Mono"/>
              </a:rPr>
              <a:t>7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60B3261-0C09-46C8-B3DF-5877E7C5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171700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Resume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D239C69-BF89-4495-B299-FB14010D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381250"/>
            <a:ext cx="78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Upload PDF/DOCX or paste text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C3DCBA4-F39D-4D8E-BB56-4232BAA6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257425"/>
            <a:ext cx="142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C6C0CCA-410A-4FB7-B0CE-AC81ECDC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209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2A40268-DF78-4D9C-84F6-242D451F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1762125"/>
            <a:ext cx="990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A6EB92F-5459-4BFC-964B-332358E5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1876425"/>
            <a:ext cx="28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6E0D0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36E0D0"/>
                </a:solidFill>
                <a:latin typeface="Aptos Mono"/>
                <a:ea typeface="Aptos Mono"/>
                <a:cs typeface="Aptos Mono"/>
              </a:rPr>
              <a:t>8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FA4DB8D-3BA7-47CB-AC2E-60345038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171700"/>
            <a:ext cx="80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Decision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5129CBB-0BAA-4977-BC97-63A771E3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381250"/>
            <a:ext cx="78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Fit, risks, questions, message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170B30C-F8FC-4489-9AAB-60928536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8AC78D7-1304-4508-B24D-C14AACEA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43325"/>
            <a:ext cx="2590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Search project memory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D5174AA-9D04-4C7C-B8AF-899BCA96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2590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Stores requirement brief, confirmed brief, search strategy, candidates, candidate reviews, resume reviews, and executed query audits.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723523B-8262-4925-B226-5BC0C2D4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19500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F7B1DE1-0D7E-4CA1-9A78-FAE3FDC7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43325"/>
            <a:ext cx="2590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Human-in-the-loop control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691FEB6-E526-4B19-B7EA-60B2537F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00500"/>
            <a:ext cx="2590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The human can edit fields before search and manually controls profile viewing, candidate communication, and final decisions.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DEF7045-08F4-457A-A526-3B477E97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19500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7BD764F-C336-44CC-A112-F51A4AC6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743325"/>
            <a:ext cx="2590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Future chat interface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6F1882D-DD9E-4213-906A-A6425A17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00500"/>
            <a:ext cx="2590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A chat layer can later call the same backend actions, but chat messages will not be the only source of truth.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CB6972F-C74A-4D8D-A920-4F585CE8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530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C0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5C04D"/>
                </a:solidFill>
                <a:latin typeface="Aptos Mono"/>
                <a:ea typeface="Aptos Mono"/>
                <a:cs typeface="Aptos Mono"/>
              </a:rPr>
              <a:t>CURRENT PRODUCT PRINCIPLE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D891E61-434D-470C-BE08-0A76B474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8953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• Workflow screens are the source of truth.</a:t>
            </a:r>
          </a:p>
          <a:p xmlns:a="http://schemas.openxmlformats.org/drawingml/2006/main">
            <a:pPr algn="l">
              <a:defRPr sz="1050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• AI explains and analyzes; it does not silently take risky actions.</a:t>
            </a:r>
          </a:p>
          <a:p xmlns:a="http://schemas.openxmlformats.org/drawingml/2006/main">
            <a:pPr algn="l">
              <a:defRPr sz="1050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• Search is public-index based; profile proof is added manually by the human.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91E013C-7BEA-49D0-93CA-EE167B44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4A4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F84A4"/>
                </a:solidFill>
                <a:latin typeface="Aptos Mono"/>
                <a:ea typeface="Aptos Mono"/>
                <a:cs typeface="Aptos Mono"/>
              </a:rPr>
              <a:t>Engineers Search AI | current architecture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0A39BFA-13CC-4F2B-9ECF-69444A2A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6E0D0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6E0D0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8184086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D09B8F-FFF8-4982-834F-AD84EF44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DBA633-B8F3-49F6-BF01-E4722037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124EE6-0859-4078-8EEB-D88D5C32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3DD0D3-083B-4063-BB11-542EF76E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04950"/>
            <a:ext cx="12192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9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FF3025-A2C1-417F-B147-2E17746F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E0D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6E0D0"/>
                </a:solidFill>
                <a:latin typeface="Aptos Mono"/>
                <a:ea typeface="Aptos Mono"/>
                <a:cs typeface="Aptos Mono"/>
              </a:rPr>
              <a:t>PRODUCT SURFACE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8C4891-3EF3-4038-808C-C8E6F772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766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The UI has two entry paths, but both produce the same searchable brief.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9B8BC4-AD10-456C-BFB0-5DA81EEC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790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This keeps manual sourcing fast while allowing vacancy-assisted search when a public job page exists.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EA6636-541F-4C54-9DAA-F7B8906D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409575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11430">
            <a:solidFill>
              <a:srgbClr val="2B496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0D49B0-35E1-4104-BA04-A70087FD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47625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137226-66F3-4FA5-8746-125DAB9E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3752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Manual 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29A8D3-D216-45DD-B34A-5CDCB990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3752850" cy="1990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User enters detected role, role signals, tech stacks, location, sources, result limit, and search depth directly. The app builds a Search Brief and Strategy Preview without needing a vacancy URL.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657413-DD99-43AB-B431-A2F468D1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95450"/>
            <a:ext cx="409575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11430">
            <a:solidFill>
              <a:srgbClr val="2B496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AD8EE5-7890-4B28-BC34-FFAD23E8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95450"/>
            <a:ext cx="47625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E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3129D7-6459-4650-A6F4-9C77A898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866900"/>
            <a:ext cx="3752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From vacancy URL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F23DA7-AD80-4F26-864F-8F65A07F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190750"/>
            <a:ext cx="3752850" cy="1990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User pastes a public requirement link. The app fetches the page, OpenAI extracts a structured brief, and Apply to Search Builder fills editable fields for review.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28A3AD-1229-42FC-87C0-E2E71958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05375"/>
            <a:ext cx="1905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C31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2ADF5B-764B-4623-A5C3-2BDEA0C4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292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Editable fields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7F49D2-33E6-48D8-B02B-D1F13900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86375"/>
            <a:ext cx="1638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Role, signals, skills, location, sources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94384C-E3BE-40B5-AD08-6CB636C6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276850"/>
            <a:ext cx="733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E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F721D4-844F-48AC-8E2E-BE46CBCB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229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E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1EB4F7-71AB-49CE-827D-5744C83E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905375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C31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ACB141-8D8D-4A83-9A0F-7E74F6C6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029200"/>
            <a:ext cx="1828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Strategy preview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AFAEEE-C116-4119-842F-AB6D0040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286375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Role logic, planned searches, providers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F6CD30-6C32-4CCE-BF34-DFF7AE79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276850"/>
            <a:ext cx="72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E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6D297E-13B8-44F9-86A6-FD5D7557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229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E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9139AE-5D6E-4359-A852-57F57350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05375"/>
            <a:ext cx="200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C31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4503AC-2410-4EE7-8DDD-C11F8D99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029200"/>
            <a:ext cx="1733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Run search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D18395-571E-48E4-9372-BC8B236C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286375"/>
            <a:ext cx="1733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Confirmed brief saved at search time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9B2615-7E20-4B0D-AC42-DDAAA229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8763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1"/>
          </a:solidFill>
          <a:ln xmlns:a="http://schemas.openxmlformats.org/drawingml/2006/main" w="9525">
            <a:solidFill>
              <a:srgbClr val="F5C04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A8D547-CB82-48D6-8145-9471A307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923925"/>
            <a:ext cx="1238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5C04D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F5C04D"/>
                </a:solidFill>
                <a:latin typeface="Aptos Mono"/>
                <a:ea typeface="Aptos Mono"/>
                <a:cs typeface="Aptos Mono"/>
              </a:rPr>
              <a:t>Search mode: explicit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105902-BADB-4E7F-920A-3B4F0928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4A4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F84A4"/>
                </a:solidFill>
                <a:latin typeface="Aptos Mono"/>
                <a:ea typeface="Aptos Mono"/>
                <a:cs typeface="Aptos Mono"/>
              </a:rPr>
              <a:t>Engineers Search AI | current architecture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E67832-7059-4388-8A2E-13ED5BEA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6E0D0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6E0D0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199412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B6E9AD-35AF-4B95-8BA7-221B07E1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9640BF-4B5C-46B2-B08B-E96DE562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218F6F-0D6C-478D-A441-05C2830C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D6F6B2-60A5-44BD-830E-BDC1DFBA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04950"/>
            <a:ext cx="12192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9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0DCCD8-4BD4-4852-9B95-9DC2B80C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E0D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6E0D0"/>
                </a:solidFill>
                <a:latin typeface="Aptos Mono"/>
                <a:ea typeface="Aptos Mono"/>
                <a:cs typeface="Aptos Mono"/>
              </a:rPr>
              <a:t>REQUIREMENT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A81E05-BF89-4381-828B-961DA20D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766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Vacancy intake turns messy page text into a compact search intent.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DCB4AB-BD48-447E-B189-611C127E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790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The goal is not to show every extracted sentence; it is to create editable, searchable anchors.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345CE2-7B8F-4722-9FE5-1FB5A0B3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C31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D642CA-36A1-4EDC-BE70-41FA57E1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Public URL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3D600E-CC14-4A00-AFEE-29F3DF55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1352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Accessible job portal page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BEE5DF-9197-4FD8-98D7-17B06D41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247900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E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7C3789-29CA-4760-8A14-3F9ADE67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200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E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92D4D7-641B-48B2-B6E8-A6A03549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8097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C31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10CF11-E1A2-4419-96AA-B0448FBF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933575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Fetcher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4BCE6F-6FE2-47AA-BA75-0748A4CF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90750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HTML -&gt; clean text + page title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2936F3-B7B2-460C-A4D8-68B9D4D3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479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E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AE5DE0-E1DB-4B45-B1F3-AAEEC8FC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200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E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F5692B-8F4D-4829-A149-5B97D5AF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8097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C31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461D10-D4A0-4E51-8E4E-50200F16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933575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OpenAI extraction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8E8BED-ED24-4AF7-9415-2DAF70EA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190750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Role, seniority, location, skills, domain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EF98E9-566A-4BF4-B170-1A189EE3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479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E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1B3532-1EBC-479D-A1E6-30731C99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200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E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6EC608-48B5-4894-8AB1-D6CC53F6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C31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69AA40-DD5C-4EC6-85A6-9E06E69A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33575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Search intent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71B281-FAFC-434A-BE02-5AA20764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Canonical terms and query groups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3E7E87-D673-4E15-9E5A-74058761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9E5A8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9E5A8"/>
                </a:solidFill>
                <a:latin typeface="Aptos Mono"/>
                <a:ea typeface="Aptos Mono"/>
                <a:cs typeface="Aptos Mono"/>
              </a:rPr>
              <a:t>VISIBLE TO USER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768B1F-100B-4F07-B55F-344AA9F8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266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3DD5AF-73D5-4198-98BF-66A38EB6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48075"/>
            <a:ext cx="2400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Compact Search Brief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912C49-C81A-4242-9EF1-F4F57B89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24003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Short bullets: role, location, seniority, domain, must-have anchors, nice-to-have anchors.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8FB717-D51A-4299-9853-BBE5DB82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24250"/>
            <a:ext cx="266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0D3876-CE5F-46DB-BDDF-52D8D6EB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648075"/>
            <a:ext cx="2400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Expandable details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D6BC3D-74CB-4BE6-9963-E98DAA83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905250"/>
            <a:ext cx="24003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Long extracted text, open questions, role variants, and full details stay available but collapsed.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3A2DE6-373D-47D9-ACC2-6A468816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24250"/>
            <a:ext cx="266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7CCAA3-E2B7-49D2-9A81-B20F7660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48075"/>
            <a:ext cx="2400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Editable builder fields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E33D4E-146A-4E7C-AE4C-08C58C37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05250"/>
            <a:ext cx="24003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The human can correct the brief before search; confirmed_brief is saved from current fields.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2A53D4-7CC1-4BCD-8D48-7480B96B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9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1DABE3-1896-4D3E-9ADE-2AB4B796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57850"/>
            <a:ext cx="8763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• OpenAI creates the structured requirement brief.</a:t>
            </a:r>
          </a:p>
          <a:p xmlns:a="http://schemas.openxmlformats.org/drawingml/2006/main">
            <a:pPr algn="l">
              <a:defRPr sz="1050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• Rule-based Search Intent converts long phrases into short canonical anchors.</a:t>
            </a:r>
          </a:p>
          <a:p xmlns:a="http://schemas.openxmlformats.org/drawingml/2006/main">
            <a:pPr algn="l">
              <a:defRPr sz="1050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• Manual edits override old extracted context when planning the next search.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9CC140-BC1C-49B7-A6BB-3B25D5DA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4A4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F84A4"/>
                </a:solidFill>
                <a:latin typeface="Aptos Mono"/>
                <a:ea typeface="Aptos Mono"/>
                <a:cs typeface="Aptos Mono"/>
              </a:rPr>
              <a:t>Engineers Search AI | current architecture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66C40D-7C01-4764-8F91-6041D054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6E0D0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6E0D0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167176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CFCAF0-93F9-477D-A18D-B1106794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1BFA98-FC3D-4EC5-9DF0-4EE71467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06D696-BFCD-496A-BDB6-78FAEF30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D859EB-D2FA-4F93-909E-DC4D2584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04950"/>
            <a:ext cx="12192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9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773B74-66DC-45B9-BE5A-5ED5E1FD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E0D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6E0D0"/>
                </a:solidFill>
                <a:latin typeface="Aptos Mono"/>
                <a:ea typeface="Aptos Mono"/>
                <a:cs typeface="Aptos Mono"/>
              </a:rPr>
              <a:t>QUERY PLANNER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D714F3-8B14-41A6-92F4-8F4114D8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766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Search strategy is built from semantic role patterns plus focused skill groups.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774B81-D137-49AA-BFB1-6874FC5F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790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This avoids both overly literal titles and giant Boolean queries that are too long or too noisy.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598157-F036-4317-9E86-CA1E07AE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6509F-7BDE-446B-8693-FBFD800F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62125"/>
            <a:ext cx="2114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Detected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101703-FD70-4405-80A4-2A2183B1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2114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Example: QA Hybrid Test Engineer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EC6864-DDB3-44F1-B3D8-BD4EFB44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3830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187C4E-D062-4049-8DFD-D19A5195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762125"/>
            <a:ext cx="2114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Role Signals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7EDFD2-B4BD-48D5-BC40-D5B45973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19300"/>
            <a:ext cx="2114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Test Automation Engineer, QA Engineer, Python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C11469-6520-4ED7-B611-AE49A714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3830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CC2509-5D95-41FF-95A7-3D89CCB5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62125"/>
            <a:ext cx="2114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Requirement Context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9E1E1F-7CC6-4AA5-83E0-C85F4B5C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19300"/>
            <a:ext cx="2114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Automotive, embedded, HiL/SIL, Python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1399D9-B125-42F9-87D2-E1180966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09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E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D7D982-5573-44EC-BFA7-C1C85F0B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162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E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39F58D-D1AB-4B78-A37E-66090BCD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09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E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69711D-5782-4284-B67D-FB1D3FD0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62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E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A2EE0C-6036-4385-BEF4-355892E9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86125"/>
            <a:ext cx="7524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36"/>
          </a:solidFill>
          <a:ln xmlns:a="http://schemas.openxmlformats.org/drawingml/2006/main" w="13335">
            <a:solidFill>
              <a:srgbClr val="36E0D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0FB73E-8EEE-4131-A4EB-B8D2071D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861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6E0D0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36E0D0"/>
                </a:solidFill>
                <a:latin typeface="Aptos Display"/>
                <a:ea typeface="Aptos Display"/>
                <a:cs typeface="Aptos Display"/>
              </a:rPr>
              <a:t>Semantic title pattern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14EA33-E2B7-45C8-9E18-724A8D1B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10000"/>
            <a:ext cx="676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3F7FF"/>
                </a:solidFill>
                <a:latin typeface="Aptos Mono"/>
                <a:ea typeface="Aptos Mono"/>
                <a:cs typeface="Aptos Mono"/>
              </a:defRPr>
            </a:pPr>
            <a:r>
              <a:rPr sz="1425" b="1">
                <a:solidFill>
                  <a:srgbClr val="F3F7FF"/>
                </a:solidFill>
                <a:latin typeface="Aptos Mono"/>
                <a:ea typeface="Aptos Mono"/>
                <a:cs typeface="Aptos Mono"/>
              </a:rPr>
              <a:t>"Automation" ("Engineer" OR "QA" OR "Tester" OR "Test Engineer" OR "SDET")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3ECA7E-67DA-4F85-A03D-9B9FC765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C0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5C04D"/>
                </a:solidFill>
                <a:latin typeface="Aptos Mono"/>
                <a:ea typeface="Aptos Mono"/>
                <a:cs typeface="Aptos Mono"/>
              </a:rPr>
              <a:t>WHY THIS MATTERS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EA1EE8-CC9D-4CB0-98C3-F8C851BE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4095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• Broader than literal title matching.</a:t>
            </a:r>
          </a:p>
          <a:p xmlns:a="http://schemas.openxmlformats.org/drawingml/2006/main">
            <a:pPr algn="l">
              <a:defRPr sz="1050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• Still anchored to the role family.</a:t>
            </a:r>
          </a:p>
          <a:p xmlns:a="http://schemas.openxmlformats.org/drawingml/2006/main">
            <a:pPr algn="l">
              <a:defRPr sz="1050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• Human edits immediately refresh the preview.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6F80D6-58F8-4EBA-82DE-B51053D1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029200"/>
            <a:ext cx="4095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• Skills run as compact query groups.</a:t>
            </a:r>
          </a:p>
          <a:p xmlns:a="http://schemas.openxmlformats.org/drawingml/2006/main">
            <a:pPr algn="l">
              <a:defRPr sz="1050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• Large result limits expand meaningful family angles.</a:t>
            </a:r>
          </a:p>
          <a:p xmlns:a="http://schemas.openxmlformats.org/drawingml/2006/main">
            <a:pPr algn="l">
              <a:defRPr sz="1050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• Generic boosters like profile/resume/cv were removed.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69D84C-D342-4866-8B4D-BE724EBE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8763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1"/>
          </a:solidFill>
          <a:ln xmlns:a="http://schemas.openxmlformats.org/drawingml/2006/main" w="9525">
            <a:solidFill>
              <a:srgbClr val="4B9B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B85C16-8C85-462C-9FEE-DBAA3CA8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923925"/>
            <a:ext cx="1428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4B9BFF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4B9BFF"/>
                </a:solidFill>
                <a:latin typeface="Aptos Mono"/>
                <a:ea typeface="Aptos Mono"/>
                <a:cs typeface="Aptos Mono"/>
              </a:rPr>
              <a:t>Rule-based planner + AI brief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CC2A70-45D7-4A6B-BC73-78A2482D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4A4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F84A4"/>
                </a:solidFill>
                <a:latin typeface="Aptos Mono"/>
                <a:ea typeface="Aptos Mono"/>
                <a:cs typeface="Aptos Mono"/>
              </a:rPr>
              <a:t>Engineers Search AI | current architecture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1CC30D-2DE2-48FA-8E3A-739FB792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6E0D0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6E0D0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5678400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129379-40E9-42B6-A8BA-0213DF30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E51A92-ACF8-486D-B40D-2A309FC3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483A26-7585-4920-AF88-EC280B1D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758DC7-F230-4BAD-8EA2-A4E965C1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04950"/>
            <a:ext cx="12192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9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4EE29A-9F3D-4105-ADD0-A8E332F5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E0D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6E0D0"/>
                </a:solidFill>
                <a:latin typeface="Aptos Mono"/>
                <a:ea typeface="Aptos Mono"/>
                <a:cs typeface="Aptos Mono"/>
              </a:rPr>
              <a:t>HYBRID 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7D047C-9339-4B82-B5D2-2DD67FF9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766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Search Depth controls how many provider passes the same strategy gets.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B9F4FE-DCE2-45F6-9873-7E37D217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790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The UI keeps the active provider set focused: Tavily, Bing via SerpApi, Google via SerpApi, and Google via Serper.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9EF186-336A-48F3-820E-D52181AD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2190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11430">
            <a:solidFill>
              <a:srgbClr val="36E0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4459F6-6619-4731-8A61-2AD147E3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Standard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2A527A-1501-485E-B12C-EE2D6110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762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E0D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6E0D0"/>
                </a:solidFill>
                <a:latin typeface="Aptos"/>
                <a:ea typeface="Aptos"/>
                <a:cs typeface="Aptos"/>
              </a:rPr>
              <a:t>Tavily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28BFFC-ED9B-4E82-911A-39B2FF18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17621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Fast baseline</a:t>
            </a:r>
          </a:p>
          <a:p xmlns:a="http://schemas.openxmlformats.org/drawingml/2006/main">
            <a:pPr algn="l">
              <a:defRPr sz="938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lowest provider cost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013512-5D01-4C95-B857-B10D1A65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62125"/>
            <a:ext cx="2190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11430">
            <a:solidFill>
              <a:srgbClr val="4B9B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6A05CA-4CC8-4225-BB57-D2DE6A1E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193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Medium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A5C67D-6C99-47F7-9101-AD1167B9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76500"/>
            <a:ext cx="1762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9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B9BFF"/>
                </a:solidFill>
                <a:latin typeface="Aptos"/>
                <a:ea typeface="Aptos"/>
                <a:cs typeface="Aptos"/>
              </a:rPr>
              <a:t>Tavily + Bing / SerpApi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F28E08-549E-49A3-A8C3-8EAD251F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57550"/>
            <a:ext cx="17621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Adds Bing-style indexed pages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5E652E-B1DC-44F7-8EBE-E1740F9D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762125"/>
            <a:ext cx="2190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11430">
            <a:solidFill>
              <a:srgbClr val="49E5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51EF25-1A96-4EE3-8DBF-AC2EA2CC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193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Extended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4D75BE-65F0-41D0-9D0C-F54FF90A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76500"/>
            <a:ext cx="1762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9E5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9E5A8"/>
                </a:solidFill>
                <a:latin typeface="Aptos"/>
                <a:ea typeface="Aptos"/>
                <a:cs typeface="Aptos"/>
              </a:rPr>
              <a:t>Tavily + Bing + Google / SerpApi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8724F6-C7B5-4300-B887-6DC5A327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57550"/>
            <a:ext cx="17621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Best current everyday depth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AAA35B-AE61-409D-A58A-33328AD3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62125"/>
            <a:ext cx="2190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D38"/>
          </a:solidFill>
          <a:ln xmlns:a="http://schemas.openxmlformats.org/drawingml/2006/main" w="19050">
            <a:solidFill>
              <a:srgbClr val="F5C04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9223DB-FD70-4825-9ED1-C6AA0D47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193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Max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55F2A4-74FA-4F21-B404-7E29D313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76500"/>
            <a:ext cx="1762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C0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C04D"/>
                </a:solidFill>
                <a:latin typeface="Aptos"/>
                <a:ea typeface="Aptos"/>
                <a:cs typeface="Aptos"/>
              </a:rPr>
              <a:t>All providers + deep pages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F9FA00-552B-48FD-BCDD-EBE950C5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57550"/>
            <a:ext cx="17621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Up to 10 API pages for paginated providers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9AD233-5121-46BD-AF64-D297A8BC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C0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5C04D"/>
                </a:solidFill>
                <a:latin typeface="Aptos Mono"/>
                <a:ea typeface="Aptos Mono"/>
                <a:cs typeface="Aptos Mono"/>
              </a:rPr>
              <a:t>CURRENT SEARCH ENGINE RULES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23CAB5-8187-487E-86BE-03FF54EC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4429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• Multi-provider failures are warnings, not total run failures.</a:t>
            </a:r>
          </a:p>
          <a:p xmlns:a="http://schemas.openxmlformats.org/drawingml/2006/main">
            <a:pPr algn="l">
              <a:defRPr sz="1050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• Runs store executed provider queries with pagination offsets.</a:t>
            </a:r>
          </a:p>
          <a:p xmlns:a="http://schemas.openxmlformats.org/drawingml/2006/main">
            <a:pPr algn="l">
              <a:defRPr sz="1050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• Final candidate list is deduped and capped by requested result limit.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2D04D6-AE5C-497F-BFB9-1B38A85B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00625"/>
            <a:ext cx="4429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• No You.com or Brave Search in the current focused provider set.</a:t>
            </a:r>
          </a:p>
          <a:p xmlns:a="http://schemas.openxmlformats.org/drawingml/2006/main">
            <a:pPr algn="l">
              <a:defRPr sz="1050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• Provider diagnostics are stored in run JSON, hidden from the recruiter table.</a:t>
            </a:r>
          </a:p>
          <a:p xmlns:a="http://schemas.openxmlformats.org/drawingml/2006/main">
            <a:pPr algn="l">
              <a:defRPr sz="1050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• Next: provider contribution report for tuning.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D2B942-F087-4F9A-AE90-BD05BACF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4A4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F84A4"/>
                </a:solidFill>
                <a:latin typeface="Aptos Mono"/>
                <a:ea typeface="Aptos Mono"/>
                <a:cs typeface="Aptos Mono"/>
              </a:rPr>
              <a:t>Engineers Search AI | current architecture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FC81E2-7FB6-4454-BB2E-C284366A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6E0D0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6E0D0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9726625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7E9874-E0CF-4D44-AAD9-80AF067B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66D244-D6A3-402B-BF40-64D1806B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DDFDD8-ADE3-4497-BD2A-B9F37EC0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A0AE2-AFF7-420D-948D-86D774DE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04950"/>
            <a:ext cx="12192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9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FAE8A7-6CFC-4C19-9A1D-ADF401D7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E0D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6E0D0"/>
                </a:solidFill>
                <a:latin typeface="Aptos Mono"/>
                <a:ea typeface="Aptos Mono"/>
                <a:cs typeface="Aptos Mono"/>
              </a:rPr>
              <a:t>QUALITY PIPELINE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6CF84E-D3CA-4B41-BED7-00D767D5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766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Search results pass through normalization, strict location, dedupe, and scoring.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7142F2-001F-4200-9E7D-C433D5D0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790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The current priority is making this pipeline measurable by provider and by query group.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E25BC0-01FC-4184-B0CE-F9841165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1428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C31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FBA13A-E84B-498D-AFB1-FBAB4419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24075"/>
            <a:ext cx="1162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Provider rows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5351AF-CE32-4A0D-804C-574D24E3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162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Raw title, URL, snippet, provider metadata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238A25-CF16-43A7-880B-5C63297B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533650"/>
            <a:ext cx="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AF3FBF-221E-44A2-98EB-E91849F1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486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D9CE97-AE18-4A13-BFF8-AD542D76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000250"/>
            <a:ext cx="1428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C31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51BBA7-16D6-4ADE-BD5A-9CB843EE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24075"/>
            <a:ext cx="1162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Normalize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3664E3-BC70-4674-BC2D-2DCADDCA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381250"/>
            <a:ext cx="1162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Internal candidate row format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C9EE71-1459-4470-B4ED-D6BFC4FD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533650"/>
            <a:ext cx="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28A7EC-880E-445B-A113-96D7755E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486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5E7E94-923E-4B4E-9704-F6720967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000250"/>
            <a:ext cx="1428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C31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7F8343-0871-465A-BBA8-A0BD5DD9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24075"/>
            <a:ext cx="1162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Quality filter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A1A5AC-AC6B-4583-BFF7-83AF86BF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1162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Candidate-like names and target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A024E4-FFED-4B15-93EF-6CA632C1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33650"/>
            <a:ext cx="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91802A-1AAC-4004-9793-9408A7A5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486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9DC589-1EC8-4CDE-8AEB-95C6285C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00250"/>
            <a:ext cx="1428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146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E23683-1721-41E4-800D-6BAA7CAB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124075"/>
            <a:ext cx="1162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E0D0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36E0D0"/>
                </a:solidFill>
                <a:latin typeface="Aptos Display"/>
                <a:ea typeface="Aptos Display"/>
                <a:cs typeface="Aptos Display"/>
              </a:rPr>
              <a:t>Strict location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3330AB-09D8-48F9-9372-57A3051B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381250"/>
            <a:ext cx="1162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Indexed evidence required; query text alone is not enough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23D367-B9C3-48A8-8533-20836FC8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33650"/>
            <a:ext cx="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B04988-EEE9-429E-945E-0710B15B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486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36F1D0-6981-4A2B-9BB2-71691DF3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00250"/>
            <a:ext cx="1428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C31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212B04-7777-4A3F-8837-7FC02AC8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24075"/>
            <a:ext cx="1162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Dedupe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B0618E-AF2F-4299-8615-45492B28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81250"/>
            <a:ext cx="1162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Merge repeated profiles across providers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6C5987-4EC0-4179-AA2F-7AC180D3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33650"/>
            <a:ext cx="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A27A12-0A0D-460E-87CF-8B08F085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486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A6B222-3A66-4CBF-94B6-3F3EE63B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00250"/>
            <a:ext cx="1428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C31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0FB17B-59AC-48E9-861F-C97E1B99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24075"/>
            <a:ext cx="1162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Score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64DA8B-3C67-48A1-BDD4-38A1C9A9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81250"/>
            <a:ext cx="1162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Role, stack, source, evidence, risk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A9A86D-A3A1-42FB-A9F4-C1CC1C5C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57625"/>
            <a:ext cx="4000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1"/>
          </a:solidFill>
          <a:ln xmlns:a="http://schemas.openxmlformats.org/drawingml/2006/main" w="11430">
            <a:solidFill>
              <a:srgbClr val="36E0D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2FDC30-97CD-47A5-B1B3-C9AABE4A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148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Strict location policy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C431C3-08B1-479A-8BAA-C1E2737E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57700"/>
            <a:ext cx="3429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Remote + country/city is treated as concrete location search. Country-only searches can use LinkedIn country subdomain proof; city searches still require city evidence.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CEF1718-DF3C-43C9-BF9D-BD5D152C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57625"/>
            <a:ext cx="4000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1"/>
          </a:solidFill>
          <a:ln xmlns:a="http://schemas.openxmlformats.org/drawingml/2006/main" w="11430">
            <a:solidFill>
              <a:srgbClr val="F5C04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3017B9-981C-4275-AE55-924B1DE9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1148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Diagnostics already stored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8C4982B-D893-4B32-83B2-61A87A0E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457700"/>
            <a:ext cx="3429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Raw rows, accepted rows, location rejects, verification attempts, provider breakdown, and executed query audit trails are saved for analysis.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2F0947-36F6-4CF1-B060-1F33A835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C0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5C04D"/>
                </a:solidFill>
                <a:latin typeface="Aptos Mono"/>
                <a:ea typeface="Aptos Mono"/>
                <a:cs typeface="Aptos Mono"/>
              </a:rPr>
              <a:t>NEXT SEARCH-ENGINE IMPROVEMENT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66684E7-756F-49D0-948F-8F188040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3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• Provider contribution report: raw -&gt; strict-location survivors -&gt; deduped final candidates -&gt; unique lift.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0E33043-19D8-4B54-AE8A-8E46DEA7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4A4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F84A4"/>
                </a:solidFill>
                <a:latin typeface="Aptos Mono"/>
                <a:ea typeface="Aptos Mono"/>
                <a:cs typeface="Aptos Mono"/>
              </a:rPr>
              <a:t>Engineers Search AI | current architecture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C6A349D-D810-4F0E-9F38-18963A91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6E0D0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6E0D0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1051769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D004CC-3AAE-4ECD-9ED5-AACB00B8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8E7FCE-4B61-4234-AAFE-18917207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9924BB-D84F-4BD1-A195-BFEAB363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B6750E-008F-4D1E-8541-8AE15A26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04950"/>
            <a:ext cx="12192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9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23E6BC-7F34-42A4-A802-A9DE2422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E0D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6E0D0"/>
                </a:solidFill>
                <a:latin typeface="Aptos Mono"/>
                <a:ea typeface="Aptos Mono"/>
                <a:cs typeface="Aptos Mono"/>
              </a:rPr>
              <a:t>CANDIDATE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994AEB-4900-45B0-89F2-7D4BADC7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766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The review loop converts selected search results into evidence-backed recommendations.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DCEF70-F461-4F9C-9C50-931F6515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790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The human supplies profile and resume evidence; AI compares it against the confirmed brief.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36B7AF-0328-4E7D-BB77-967802DD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C31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722BA4-4FA3-492D-94DB-1614364A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19275"/>
            <a:ext cx="1733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Candidate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57A24D-2FC6-4F1C-B74E-3A3A1390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1733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Indexed search metadata, source URL, initial 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8CF9FA-17ED-42A5-BC7B-35A9ED84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05025"/>
            <a:ext cx="542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E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537231-3D05-45D0-9763-8903662E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57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E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9B1A5F-6995-4D82-BF9D-949D7997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9545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C31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554C6A-C9D0-4EB2-992E-DDA48CDA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1819275"/>
            <a:ext cx="1924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Manual profile paste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2E6B1A-F6B4-416E-8631-BDA7D5C1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076450"/>
            <a:ext cx="1924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Human opens profile and pastes relevant 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38468C-1E4A-412A-A663-F396B9C7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05025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E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84CC4D-3A4D-4543-9FCB-E0E4C64E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57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E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3C5C05-86D5-4B4F-8E34-0C40F925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9545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C31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8D5588-5CB5-4410-8FC4-398545BA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19275"/>
            <a:ext cx="1924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Profile review agent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017856-F025-498E-8F58-1F22618F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76450"/>
            <a:ext cx="1924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Fit, evidence, risks, questions, outreach draft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46AAC0-958B-49F8-AE6C-EB9AC2D3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3850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C31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E68383-3374-42F4-8879-2A70BAD4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362325"/>
            <a:ext cx="1924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Resume upload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709E9E-8022-49BB-9D6B-8334E96E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619500"/>
            <a:ext cx="1924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PDF/DOCX extraction or sanitized pasted text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4EFD95-EBD6-4140-8C01-F30292C1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48075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E5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11547B-E6C0-4029-8998-18367A4C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00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E5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20594B-724B-4AED-9F84-1CC4E20C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C31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8EE89B-B3A0-4D1A-980F-6B2AEC52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62325"/>
            <a:ext cx="1924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Resume review agent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0FDBA1-57A7-43C9-8247-E419267D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19500"/>
            <a:ext cx="1924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Compares resume to brief and profile evidence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3615A4-F847-4CAA-AC45-B271F455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552700"/>
            <a:ext cx="-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E5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B7BC5B-419A-43F2-8E15-58C29CCE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05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E5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432A00-5C2B-4B05-8D54-6BE4BD8F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10125"/>
            <a:ext cx="266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11430">
            <a:solidFill>
              <a:srgbClr val="2B496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7DE789-3831-4D94-AD44-ABE5A733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10125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E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5AF4E4-3382-47A7-B5B7-CAD2F592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81575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Profile output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028462-E0B4-443F-B3F6-CCB9D8AB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305425"/>
            <a:ext cx="2324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Decision, score, evidence, risks, questions to ask, and candidate message draft.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04CE56-894B-4369-8924-FAE3B5E2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10125"/>
            <a:ext cx="266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11430">
            <a:solidFill>
              <a:srgbClr val="2B496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67DE26-2768-49CC-B79D-029B3DE7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10125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E5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B05A58-6A37-43CD-A4DF-A211FDBE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981575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Resume output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08D7BD-6962-49CA-8B8C-F5A4AFE3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305425"/>
            <a:ext cx="2324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Fit decision, contradictions, missing evidence, clarifying questions, next action.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D89134-780C-437F-B27E-6816F672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810125"/>
            <a:ext cx="266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11430">
            <a:solidFill>
              <a:srgbClr val="2B496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C9CF1E-6C83-4F18-83F4-02D9F262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810125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05FCD20-C6B4-4BA7-94C1-2BF4F9FE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981575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Stored project memory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1A52E62-2C21-4986-9DF3-8DEE6FBD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305425"/>
            <a:ext cx="2324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Reviews are saved under the sourcing project and reload with historical runs.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68EACED-F87A-4ED2-8F75-179B51D3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4A4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F84A4"/>
                </a:solidFill>
                <a:latin typeface="Aptos Mono"/>
                <a:ea typeface="Aptos Mono"/>
                <a:cs typeface="Aptos Mono"/>
              </a:rPr>
              <a:t>Engineers Search AI | current architecture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F6F187A-FE41-4E79-BFC7-41185C48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6E0D0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6E0D0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9687344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7DE5AF-6AD6-4114-9193-4C01D921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B88436-7F62-4BE4-8292-AB41DC9D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46337B-0025-45EE-A0B7-1F60AD42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0A4DB3-4D8B-4358-92E7-DFB6CE57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04950"/>
            <a:ext cx="12192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9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DAFDEA-1019-4757-86DF-67AA2142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E0D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6E0D0"/>
                </a:solidFill>
                <a:latin typeface="Aptos Mono"/>
                <a:ea typeface="Aptos Mono"/>
                <a:cs typeface="Aptos Mono"/>
              </a:rPr>
              <a:t>STATE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1CFE2-52A1-4656-8891-C9F88A34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766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Sourcing Project is the durable container for the whole workflow.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F7C22-DB50-4B0F-BC00-8035AD07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790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Today persistence is local JSON; later this should move to database/persistent Render storage.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4D842A-21B7-492C-9152-456A74AE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00200"/>
            <a:ext cx="8572500" cy="3571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63D"/>
          </a:solidFill>
          <a:ln xmlns:a="http://schemas.openxmlformats.org/drawingml/2006/main" w="13335">
            <a:solidFill>
              <a:srgbClr val="36E0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AA9931-975E-4730-95F2-044A192C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0500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Sourcing Project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C9EDFC-2B98-4BE2-863C-95BB3448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project_id + requirement + confirmed search strategy + candidate evidence history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679A06-1646-4F2E-B637-0F30C19C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575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C31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7D4B98-2BF9-43F8-A413-203DB03C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81325"/>
            <a:ext cx="1924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Requirement brief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A5ECB6-FC54-49AF-84F7-DE13E323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385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raw URL/text, extracted role, location, skills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1E958A-DB91-4ECB-B8EB-7293C3E3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575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C31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69FF8F-332F-4B90-9CB4-B2139B53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81325"/>
            <a:ext cx="1924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Confirmed brief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E916AC-27E2-401B-872A-E613D0A6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385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current editable form fields at search time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C942B6-C230-4159-B847-F65A5F38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575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C31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BA78E3-23FE-456D-9869-D6EB2966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981325"/>
            <a:ext cx="1924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Search strategy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34BEF1-84B6-4E46-8861-235B08E9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385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role pattern, query groups, providers, executed queries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09E334-A51B-4530-8BED-EA6A9210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862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C31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869307-544D-40A0-A9FF-85A868C3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10025"/>
            <a:ext cx="1924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Candidates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DDE6BE-0703-40F2-AECD-7FC721D2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672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normalized rows, source URL, provider, scores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7C856D-5113-401F-96B7-4835BB0D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8862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C31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612F81-25D7-494A-BD1C-43EA18A4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010025"/>
            <a:ext cx="1924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Profile reviews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C29444-ED6C-4963-8870-7DADF639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2672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pasted text + AI fit/risk/outreach output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0D4B49-2341-467E-982F-8264FD26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862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C31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931F6B-624A-424B-9660-EAC3858A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10025"/>
            <a:ext cx="1924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Resume reviews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5A1356-83F2-4637-954B-7830B244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672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PDF/DOCX text + AI comparison output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DA3D2B-462D-4C07-868A-3109B687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C0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5C04D"/>
                </a:solidFill>
                <a:latin typeface="Aptos Mono"/>
                <a:ea typeface="Aptos Mono"/>
                <a:cs typeface="Aptos Mono"/>
              </a:rPr>
              <a:t>CURRENT STORAGE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E154E3-4A5C-4BF5-9D64-FFA39044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67400"/>
            <a:ext cx="8858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• data/projects/{project_id}.json and data/sourcing_projects.json store project state.</a:t>
            </a:r>
          </a:p>
          <a:p xmlns:a="http://schemas.openxmlformats.org/drawingml/2006/main">
            <a:pPr algn="l">
              <a:defRPr sz="1050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• Search runs link back to projects; candidate reviews and resume reviews are persisted.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0683E9-5A66-4E54-BBC6-708945B6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4A4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F84A4"/>
                </a:solidFill>
                <a:latin typeface="Aptos Mono"/>
                <a:ea typeface="Aptos Mono"/>
                <a:cs typeface="Aptos Mono"/>
              </a:rPr>
              <a:t>Engineers Search AI | current architecture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97A4F0-759E-4FD2-A5CD-159CA194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6E0D0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6E0D0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6441377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4A660F-7492-43AF-8E92-3202894B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DBC056-7A23-4E4F-8731-D3353486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3C52E6-40A2-4CDE-8098-1A060249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D36A4-7B09-4C57-9A46-E96377CC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04950"/>
            <a:ext cx="12192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9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58C81-0B91-42EE-BA64-73AF22B4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E0D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6E0D0"/>
                </a:solidFill>
                <a:latin typeface="Aptos Mono"/>
                <a:ea typeface="Aptos Mono"/>
                <a:cs typeface="Aptos Mono"/>
              </a:rPr>
              <a:t>TECHNICAL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10CF68-0F5D-4CD5-BA6D-DC7E23F2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766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The app is a Flask workflow shell around AI agents, search orchestration, and local project memory.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A7D462-0D16-4AA1-A3FF-CDD7072F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790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The code is modular enough to add chat later without replacing the current structured workflow.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0AC5E-0E79-41D7-ABA4-B9E76D02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809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72F773-5F1C-40A8-BBCB-5DAF5687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43075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Frontend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747581-E4E7-4750-84D7-429FBFB5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1543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static/app.js + templates</a:t>
            </a:r>
          </a:p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Search Builder, results, candidate panel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E50095-E770-4409-B417-8F434F17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076450"/>
            <a:ext cx="542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E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A87C54-7A8F-4726-8716-9EF92D25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28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E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B80B20-3190-424B-875E-667015B8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619250"/>
            <a:ext cx="1809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52DE4E-97E9-454B-B286-C20EDAEF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743075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Flask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84A948-92E3-4846-9A8F-72300FA0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00250"/>
            <a:ext cx="1543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app.py routes</a:t>
            </a:r>
          </a:p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auth, search, projects, reviews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874309-1171-415D-A2BD-9A13A659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809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C31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D64885-60C8-47F6-AB74-E8DE4513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57575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OpenAI agents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E87E50-ECA1-4691-B412-5181E96D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543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requirement_agent</a:t>
            </a:r>
          </a:p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profile_review_agent</a:t>
            </a:r>
          </a:p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resume_review_agent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C4DB61-189B-4F1B-BB4B-0BC83638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333750"/>
            <a:ext cx="1809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C31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0BA74A-DD56-4FF5-A705-69CB4101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457575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Search planner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62DF09-3255-4DA6-959B-9322B28D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714750"/>
            <a:ext cx="1543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search_intent</a:t>
            </a:r>
          </a:p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role_pattern_builder</a:t>
            </a:r>
          </a:p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query_group_expander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96A62D-B7EE-4D3E-99A4-6BEF2EF2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33750"/>
            <a:ext cx="1809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C31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644161-1A8C-4320-8737-1088D463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457575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Search engine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50F300-737F-4E40-861A-2044C81C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714750"/>
            <a:ext cx="1543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search_service</a:t>
            </a:r>
          </a:p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search_orchestrator</a:t>
            </a:r>
          </a:p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location_policy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379524-BEEC-4279-8C1C-943B1B33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33750"/>
            <a:ext cx="1809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C31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1D4437-66DA-4467-8752-1A262EAA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457575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Storage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CA0BC6-2A1A-4386-87E7-B89DDB98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714750"/>
            <a:ext cx="1543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search_storage</a:t>
            </a:r>
          </a:p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data/projects/*.json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6934BC-85AD-4B14-BE88-BC4CE69D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076450"/>
            <a:ext cx="695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E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1D50E1-D558-4D16-88EA-20F5B6BB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028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E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B79CDA-7FFC-4E54-8CD3-C1AB009C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0"/>
            <a:ext cx="2190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4E2375-05AE-43F4-8D1C-F10D7CC9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43075"/>
            <a:ext cx="1924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Provider clients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B70B68-2B79-47B6-9D52-121E72B2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00250"/>
            <a:ext cx="1924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Tavily, Bing/SerpApi, Google/SerpApi, Google/Serper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5EBD5B-106B-4165-B038-D350C260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76450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E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9C4B3A-1B12-4C3B-A10B-9A31D2B0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28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E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E6A990-D9D4-4DB4-B540-D5025050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619250"/>
            <a:ext cx="1428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B496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8C7A2D-D19C-4B14-8216-46CC94EB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743075"/>
            <a:ext cx="1162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Public indexes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3EF254-96DC-4A14-8EBD-E529EC51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000250"/>
            <a:ext cx="1162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Search-result metadata only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4E9D01-6D71-4C73-95BB-EC8AB415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33650"/>
            <a:ext cx="190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95D27A-B5CC-4D9B-96CB-62B43B59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533650"/>
            <a:ext cx="190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E02948-62A4-47CA-8C87-B36B4919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533650"/>
            <a:ext cx="190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4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4852A8-10AF-48FD-B0F5-45BC7C28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7C8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7C8F"/>
                </a:solidFill>
                <a:latin typeface="Aptos Mono"/>
                <a:ea typeface="Aptos Mono"/>
                <a:cs typeface="Aptos Mono"/>
              </a:rPr>
              <a:t>IMPORTANT BOUNDARY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7FDCEC7-E7FF-4E0A-836C-C7237E03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895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• Provider clients call public search APIs; they do not automate a logged-in LinkedIn browser.</a:t>
            </a:r>
          </a:p>
          <a:p xmlns:a="http://schemas.openxmlformats.org/drawingml/2006/main">
            <a:pPr algn="l">
              <a:defRPr sz="1050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• The future chat copilot should call these same backend actions and write structured project state.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897ABCB-806F-4DB1-B224-0D49CC34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4A4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F84A4"/>
                </a:solidFill>
                <a:latin typeface="Aptos Mono"/>
                <a:ea typeface="Aptos Mono"/>
                <a:cs typeface="Aptos Mono"/>
              </a:rPr>
              <a:t>Engineers Search AI | current architecture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ABD5DB9-B84D-4979-B729-F980ED37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6E0D0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6E0D0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1676400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B9A8F5-00E2-45FF-A71E-C0E763FB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906D11-3AEF-4EDA-AB04-3EB20F3C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E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0ACE0E-D300-425A-937B-B6288018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6D7E9-3513-40EF-A830-B90B50E9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04950"/>
            <a:ext cx="12192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9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FA2AAC-9E69-421A-8F9A-CECCB139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E0D0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6E0D0"/>
                </a:solidFill>
                <a:latin typeface="Aptos Mono"/>
                <a:ea typeface="Aptos Mono"/>
                <a:cs typeface="Aptos Mono"/>
              </a:rPr>
              <a:t>ROADMAP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76EA80-EC2F-4A7A-B64B-C7592C4B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766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The next build phase is search-engine calibration, then decision memory.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C748CD-134B-4DAB-9845-DAF448A4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790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Chat is valuable, but it should sit on stable workflow actions rather than replacing them too early.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939324-DE71-4431-A06A-67BC9C7A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2286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11430">
            <a:solidFill>
              <a:srgbClr val="2B496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12CC09-1030-414D-B534-C75DCE37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476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E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80EF51-B669-41A4-91A1-3AFB95DB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43075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1. Provider report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5D9FA4-1D94-46D4-BE99-3F31FDF7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66925"/>
            <a:ext cx="1943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Show raw rows, strict-location survivors, deduped candidates, and unique lift per provider.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41E5F4-E491-4F09-A83D-B24D99BE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71625"/>
            <a:ext cx="2286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11430">
            <a:solidFill>
              <a:srgbClr val="2B496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AE5547-3E89-4926-906A-12B04926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71625"/>
            <a:ext cx="476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9CAE4E-9A6B-4DEC-950B-3EEFA653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743075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2. Adaptive waves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A20489-3F49-4EE5-8106-DF93A57D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66925"/>
            <a:ext cx="1943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If 100/200-candidate searches underfill, launch different query angles instead of repeating the same queries.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B4E0F9-3837-41DD-A175-5276CA5B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571625"/>
            <a:ext cx="2286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11430">
            <a:solidFill>
              <a:srgbClr val="2B496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07C535-BB96-4098-8F60-5D258587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571625"/>
            <a:ext cx="476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E5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E2A61F-900C-4FF4-BED2-A6ABDA71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43075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3. Depth benchmarks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9E2B26-95DC-4677-AAC9-0ED5C6F3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66925"/>
            <a:ext cx="1943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Compare Standard, Medium, Extended, and Max on identical requirements by quality, speed, and cost.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6A3F6C-380A-41E4-BDA4-394A1863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71625"/>
            <a:ext cx="2286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11430">
            <a:solidFill>
              <a:srgbClr val="2B496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85C768-6191-4CB1-956C-8E5FDEA7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71625"/>
            <a:ext cx="476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0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217AF2-9C44-4597-928F-D971A05A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743075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4. Review UX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EFE928-2061-496D-87EF-C7FC9156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66925"/>
            <a:ext cx="1943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Lighten the right panel and add clear profile-reviewed / resume-reviewed indicators.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24D2D7-15EC-43B7-A4AB-DF364CFF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05250"/>
            <a:ext cx="866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36"/>
          </a:solidFill>
          <a:ln xmlns:a="http://schemas.openxmlformats.org/drawingml/2006/main" w="13335">
            <a:solidFill>
              <a:srgbClr val="36E0D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6167FA-D80C-478F-AB92-7129C7F5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719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3F7FF"/>
                </a:solidFill>
                <a:latin typeface="Aptos Display"/>
                <a:ea typeface="Aptos Display"/>
                <a:cs typeface="Aptos Display"/>
              </a:rPr>
              <a:t>Later: conversational sourcing copilot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35D97C-190E-4EF7-B6CA-FB3A8F49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33900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The chat should clarify requirements, revise briefs, explain tradeoffs, run approved actions, summarize candidates, and update project state. It should not become the only memory layer.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3164FC-D62F-4270-B95A-4E780766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7212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C0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5C04D"/>
                </a:solidFill>
                <a:latin typeface="Aptos Mono"/>
                <a:ea typeface="Aptos Mono"/>
                <a:cs typeface="Aptos Mono"/>
              </a:rPr>
              <a:t>CURRENT DECISION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F305F1-4F61-4D12-AB87-ACB92289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29300"/>
            <a:ext cx="885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2C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FB2CF"/>
                </a:solidFill>
                <a:latin typeface="Aptos"/>
                <a:ea typeface="Aptos"/>
                <a:cs typeface="Aptos"/>
              </a:rPr>
              <a:t>• Keep improving search quality first. Then finish decision memory. Then add chat as a better interface over proven workflow actions.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67985B-8C8C-4769-BF76-18ACE014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84A4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F84A4"/>
                </a:solidFill>
                <a:latin typeface="Aptos Mono"/>
                <a:ea typeface="Aptos Mono"/>
                <a:cs typeface="Aptos Mono"/>
              </a:rPr>
              <a:t>Engineers Search AI | current architecture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FD49CD-65E8-417A-B763-20BA4238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6E0D0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6E0D0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026193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2026-05-11T09:16:09.2330000Z</dcterms:created>
  <dcterms:modified xsi:type="dcterms:W3CDTF">2026-05-11T09:16:09.2330000Z</dcterms:modified>
</coreProperties>
</file>